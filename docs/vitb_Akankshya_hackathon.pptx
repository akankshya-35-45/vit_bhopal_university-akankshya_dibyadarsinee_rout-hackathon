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98" y="6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FC15-4ADF-594D-84DA-A9624046B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2CB3F-DCBE-74C1-62EC-42B9BEDB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7CE17-06F1-9E72-D52B-974CF89CC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36416-3DDE-B64F-9C44-0DB3304A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4E16A-B488-C753-21DF-EB9F1790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56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E4AE1-9682-B28B-1C38-A7799767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2938F-659B-52E0-9913-A753C073A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9A53A-0C5C-7E3C-0A1A-120541743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CA0C8-3732-AA20-03E7-54B7F870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5FF38-8617-522E-7A84-5C5C23502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775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5AC7D-27B0-9A60-2C45-ADCDD3E92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3CB2C-7C33-20AA-2ADA-C50D290F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3E5B-DE3F-4103-79F0-9356E17F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37D41D-4FB0-9F2F-06F8-BE27E0A1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97051-2DA4-D688-D333-E232AF6C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44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102C-DF09-C0F6-CE8C-68485740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0EB77-2D74-EBEC-5CC4-AD672769C9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EC724-4AC9-C406-815E-0B6EC4616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04628-6A53-2798-419D-C81C1AE85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E1CADE-6570-96BB-6CE6-23E93DF30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CA679-B6DD-FC67-4358-9B4322351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671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4F37E-2319-5DF4-8137-1BF76EFC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4E56A-C753-C0C2-5CED-D0FC8B91A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28CF3C-A260-D4DE-2275-CC74543E9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A6E4E-F67C-AD84-C7FE-E14088B24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66C1B-F833-0747-52D5-1FEF5C0BC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8C6521-BD85-AA43-3EEC-C0CF2770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0E5562-FEC7-5C85-22AE-2AF23BC51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C9180-3180-EC9A-58A1-1DE4AB419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4399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8CB56-D352-0D6B-C066-25E952BF6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358BF5-6680-71A3-DFFD-F6109275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E7D72E-12A1-687C-AA54-17D6CD074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D5A264-7AA9-7CE2-1713-223D14BB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45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656654-60EE-823E-1ACD-A37BA55E0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BBE01D-6E47-FF26-1BBB-ACA6485A6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95526B-F907-FCAA-EF4B-B8CF2A05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47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998C-DB47-A719-760F-C8C4DB33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1F550-5DDF-B440-1544-60E78AB72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7E5CC-55F2-A5E3-2D8C-DB0E0661F8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95E66-965F-AE6E-EDED-C29B248B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5E87DB-8019-37FC-4110-00A36D75B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3EB3D-0694-518F-4306-6997D65BC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981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303F3-A2B0-B3DE-C5B3-15280C4F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E08210-A967-B12E-46A6-B1C73574473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95FCEB-E22E-F9DE-602C-0EE0B6317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C6F2F-7F93-0439-4A53-754EBCDC3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7486F-1E45-5509-55F1-34E8120D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D2C08-E24F-B59B-E481-20CCB622E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12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48CA8-09A0-B2FB-36B4-EFDE5100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8FA68-246D-0795-E7FB-0B4786B97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974A8-63F9-AE2B-C366-419DF2743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D6DBA-4D21-E5C8-588A-CA87579F3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DA970-E4AF-B922-13D9-8636A16DB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590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A6992-B07B-FA38-F830-79A8EFE3D0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2CF4D7-1842-8AFF-AAF9-35ABE3578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1AC56-E0CE-A287-6275-F7A257F5F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2E993-B2A6-694E-2647-A88BE5B09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20D8C-1A28-A396-928C-F7E536FA1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449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5D4D32-62A5-5E70-CEBF-4822C9CD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F187B-E041-930D-E6AF-B4ACE7DF5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D032F-099A-707A-EBE8-A0166FEBC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F0582-0CB0-4D97-9F04-495C44BD1539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D3F15-53D8-ABD6-D471-1A161B4E17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5959D-D0A2-FA8F-1A1C-F30BCA71B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49AB71-A7DD-4C43-9820-6E6BE8A446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682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3AE2A-F3BC-7DC1-3E3D-0CD819CDE7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br>
              <a:rPr lang="en-IN" sz="3100" dirty="0"/>
            </a:br>
            <a:br>
              <a:rPr lang="en-IN" sz="3100" dirty="0"/>
            </a:br>
            <a:r>
              <a:rPr lang="en-IN" sz="4400" b="1" dirty="0" err="1"/>
              <a:t>RiskPulse</a:t>
            </a:r>
            <a:r>
              <a:rPr lang="en-IN" sz="4400" b="1" dirty="0"/>
              <a:t> AI</a:t>
            </a:r>
            <a:br>
              <a:rPr lang="en-IN" sz="3100" b="1" dirty="0"/>
            </a:br>
            <a:br>
              <a:rPr lang="en-IN" sz="3100" b="1" dirty="0"/>
            </a:br>
            <a:r>
              <a:rPr lang="en-IN" sz="4000" b="1" dirty="0"/>
              <a:t>Financial Risk Intelligence Engine</a:t>
            </a:r>
            <a:br>
              <a:rPr lang="en-IN" sz="4000" b="1" dirty="0"/>
            </a:br>
            <a:r>
              <a:rPr lang="en-IN" sz="4000" b="1" dirty="0"/>
              <a:t>+ Strategic Portfolio Stress Testing</a:t>
            </a:r>
            <a:br>
              <a:rPr lang="en-IN" sz="4000" b="1" dirty="0"/>
            </a:br>
            <a:br>
              <a:rPr lang="en-IN" sz="4000" b="1" dirty="0"/>
            </a:br>
            <a:r>
              <a:rPr lang="en-IN" sz="4000" b="1" dirty="0"/>
              <a:t>(S&amp;P Global &amp; CRISIL Campus Hackathon 2026)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64C35-89AB-F81D-9911-0F66420278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b="1" dirty="0" err="1"/>
              <a:t>Akankshya</a:t>
            </a:r>
            <a:r>
              <a:rPr lang="en-IN" b="1" dirty="0"/>
              <a:t> </a:t>
            </a:r>
            <a:r>
              <a:rPr lang="en-IN" b="1" dirty="0" err="1"/>
              <a:t>Dibyadarsinee</a:t>
            </a:r>
            <a:r>
              <a:rPr lang="en-IN" b="1" dirty="0"/>
              <a:t> Rout(24BAI10724)</a:t>
            </a:r>
          </a:p>
          <a:p>
            <a:pPr algn="r"/>
            <a:r>
              <a:rPr lang="en-IN" b="1" dirty="0"/>
              <a:t>VIT Bhopal University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005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AEC6C-A3CE-7AB5-9DB5-BC8B0994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5185"/>
          </a:xfrm>
        </p:spPr>
        <p:txBody>
          <a:bodyPr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IN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2D45F-76FB-5446-0A71-BA78F2C90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5594"/>
            <a:ext cx="10515600" cy="492136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8000" dirty="0"/>
              <a:t>Financial risk often appears first in unstructured information:</a:t>
            </a:r>
          </a:p>
          <a:p>
            <a:pPr marL="0" indent="0">
              <a:buNone/>
            </a:pPr>
            <a:r>
              <a:rPr lang="en-IN" sz="8000" dirty="0"/>
              <a:t>• Breaking news</a:t>
            </a:r>
          </a:p>
          <a:p>
            <a:pPr marL="0" indent="0">
              <a:buNone/>
            </a:pPr>
            <a:r>
              <a:rPr lang="en-IN" sz="8000" dirty="0"/>
              <a:t>• Market commentary</a:t>
            </a:r>
          </a:p>
          <a:p>
            <a:pPr marL="0" indent="0">
              <a:buNone/>
            </a:pPr>
            <a:r>
              <a:rPr lang="en-IN" sz="8000" dirty="0"/>
              <a:t>• Social-media signals</a:t>
            </a:r>
          </a:p>
          <a:p>
            <a:pPr marL="0" indent="0">
              <a:buNone/>
            </a:pPr>
            <a:r>
              <a:rPr lang="en-IN" sz="8000" dirty="0"/>
              <a:t>The challenge is converting this information into actionable, structured risk signals quickly.</a:t>
            </a:r>
          </a:p>
          <a:p>
            <a:endParaRPr lang="en-IN" sz="8000" dirty="0"/>
          </a:p>
          <a:p>
            <a:pPr marL="0" indent="0">
              <a:buNone/>
            </a:pPr>
            <a:r>
              <a:rPr lang="en-IN" sz="8000" dirty="0"/>
              <a:t>OUR APPROACH</a:t>
            </a:r>
          </a:p>
          <a:p>
            <a:pPr marL="0" indent="0">
              <a:buNone/>
            </a:pPr>
            <a:r>
              <a:rPr lang="en-IN" sz="8000" b="1" dirty="0" err="1"/>
              <a:t>RiskPulse</a:t>
            </a:r>
            <a:r>
              <a:rPr lang="en-IN" sz="8000" b="1" dirty="0"/>
              <a:t> AI:</a:t>
            </a:r>
          </a:p>
          <a:p>
            <a:pPr marL="0" indent="0">
              <a:buNone/>
            </a:pPr>
            <a:r>
              <a:rPr lang="en-IN" sz="8000" dirty="0"/>
              <a:t>1. Ingests public/synthetic text data</a:t>
            </a:r>
          </a:p>
          <a:p>
            <a:pPr marL="0" indent="0">
              <a:buNone/>
            </a:pPr>
            <a:r>
              <a:rPr lang="en-IN" sz="8000" dirty="0"/>
              <a:t>2. Performs sentiment analysis</a:t>
            </a:r>
          </a:p>
          <a:p>
            <a:pPr marL="0" indent="0">
              <a:buNone/>
            </a:pPr>
            <a:r>
              <a:rPr lang="en-IN" sz="8000" dirty="0"/>
              <a:t>3. Classifies financial events</a:t>
            </a:r>
          </a:p>
          <a:p>
            <a:pPr marL="0" indent="0">
              <a:buNone/>
            </a:pPr>
            <a:r>
              <a:rPr lang="en-IN" sz="8000" dirty="0"/>
              <a:t>4. Calculates impact and risk scores</a:t>
            </a:r>
          </a:p>
          <a:p>
            <a:pPr marL="0" indent="0">
              <a:buNone/>
            </a:pPr>
            <a:r>
              <a:rPr lang="en-IN" sz="8000" dirty="0"/>
              <a:t>5. Triggers portfolio stress testing</a:t>
            </a:r>
          </a:p>
          <a:p>
            <a:pPr marL="0" indent="0">
              <a:buNone/>
            </a:pPr>
            <a:r>
              <a:rPr lang="en-IN" sz="8000" dirty="0"/>
              <a:t>6. Visualizes portfolio impact</a:t>
            </a:r>
          </a:p>
        </p:txBody>
      </p:sp>
    </p:spTree>
    <p:extLst>
      <p:ext uri="{BB962C8B-B14F-4D97-AF65-F5344CB8AC3E}">
        <p14:creationId xmlns:p14="http://schemas.microsoft.com/office/powerpoint/2010/main" val="34434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9A1EC8-AF71-1064-6870-24ACC1314E80}"/>
              </a:ext>
            </a:extLst>
          </p:cNvPr>
          <p:cNvSpPr txBox="1"/>
          <p:nvPr/>
        </p:nvSpPr>
        <p:spPr>
          <a:xfrm>
            <a:off x="365760" y="-76241"/>
            <a:ext cx="3032760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DATA SOURCES</a:t>
            </a:r>
          </a:p>
          <a:p>
            <a:r>
              <a:rPr lang="en-IN" dirty="0"/>
              <a:t>GDELT News</a:t>
            </a:r>
          </a:p>
          <a:p>
            <a:r>
              <a:rPr lang="en-IN" dirty="0" err="1"/>
              <a:t>NewsAPI</a:t>
            </a:r>
            <a:r>
              <a:rPr lang="en-IN" dirty="0"/>
              <a:t> (Optional)</a:t>
            </a:r>
          </a:p>
          <a:p>
            <a:r>
              <a:rPr lang="en-IN" dirty="0"/>
              <a:t>Synthetic Social Feed</a:t>
            </a:r>
          </a:p>
          <a:p>
            <a:r>
              <a:rPr lang="en-IN" dirty="0"/>
              <a:t>Synthetic Portfolio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DATA NORMALIZATION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NLP RISK ENGINE</a:t>
            </a:r>
          </a:p>
          <a:p>
            <a:r>
              <a:rPr lang="en-IN" dirty="0"/>
              <a:t>• VADER Sentiment</a:t>
            </a:r>
          </a:p>
          <a:p>
            <a:r>
              <a:rPr lang="en-IN" dirty="0"/>
              <a:t>• Event Classification</a:t>
            </a:r>
          </a:p>
          <a:p>
            <a:r>
              <a:rPr lang="en-IN" dirty="0"/>
              <a:t>• Impact Scoring</a:t>
            </a:r>
          </a:p>
          <a:p>
            <a:r>
              <a:rPr lang="en-IN" dirty="0"/>
              <a:t>• Risk Scoring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RISK SIGNALS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STRESS-TEST TRIGGER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SCENARIO SHOCK ENGINE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PORTFOLIO IMPACT</a:t>
            </a:r>
          </a:p>
          <a:p>
            <a:r>
              <a:rPr lang="en-IN" dirty="0"/>
              <a:t>        ↓</a:t>
            </a:r>
          </a:p>
          <a:p>
            <a:r>
              <a:rPr lang="en-IN" dirty="0"/>
              <a:t>STREAMLIT DASHBOARD</a:t>
            </a:r>
          </a:p>
          <a:p>
            <a:r>
              <a:rPr lang="en-IN" dirty="0"/>
              <a:t>        +</a:t>
            </a:r>
          </a:p>
          <a:p>
            <a:r>
              <a:rPr lang="en-IN" dirty="0"/>
              <a:t>FASTAPI ENDPOINT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3AB53-979E-EC42-692D-977BD5A19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520" y="0"/>
            <a:ext cx="8534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30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695FF78-6C7E-4BE8-8649-E9295D949476}"/>
              </a:ext>
            </a:extLst>
          </p:cNvPr>
          <p:cNvSpPr txBox="1"/>
          <p:nvPr/>
        </p:nvSpPr>
        <p:spPr>
          <a:xfrm>
            <a:off x="121920" y="16585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Key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725EDC-400D-2F5F-B044-1CF7BCDE9929}"/>
              </a:ext>
            </a:extLst>
          </p:cNvPr>
          <p:cNvSpPr txBox="1"/>
          <p:nvPr/>
        </p:nvSpPr>
        <p:spPr>
          <a:xfrm>
            <a:off x="121920" y="6771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Screenshot 1:</a:t>
            </a:r>
            <a:r>
              <a:rPr lang="en-IN" dirty="0"/>
              <a:t> the </a:t>
            </a:r>
            <a:r>
              <a:rPr lang="en-IN" b="1" dirty="0"/>
              <a:t>Strategic Portfolio Stress Testing</a:t>
            </a:r>
            <a:r>
              <a:rPr lang="en-IN" dirty="0"/>
              <a:t> screen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191CA6-4248-E41E-26C3-7EA347E4D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6440"/>
            <a:ext cx="12192000" cy="581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314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160E3B-3E3C-7209-8C78-FCA5694270B8}"/>
              </a:ext>
            </a:extLst>
          </p:cNvPr>
          <p:cNvSpPr txBox="1"/>
          <p:nvPr/>
        </p:nvSpPr>
        <p:spPr>
          <a:xfrm>
            <a:off x="106680" y="14123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→ Shows the actual scenario execution: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Geopolitical scenario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Impact Score = 8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Portfolio Before = $10.9M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Portfolio After = $10.15M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Simulated P&amp;L = -$749.7K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Loss = -6.88%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Portfolio impact chart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50D82D-251D-9265-3C86-112D62EFB0C2}"/>
              </a:ext>
            </a:extLst>
          </p:cNvPr>
          <p:cNvSpPr txBox="1"/>
          <p:nvPr/>
        </p:nvSpPr>
        <p:spPr>
          <a:xfrm>
            <a:off x="106680" y="2449562"/>
            <a:ext cx="609600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Screenshot 2: the Stress-Test Results table</a:t>
            </a:r>
            <a:br>
              <a:rPr lang="en-IN" dirty="0"/>
            </a:br>
            <a:r>
              <a:rPr lang="en-IN" dirty="0"/>
              <a:t>→ Shows the detailed asset-level output: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A01–A10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Asset type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Market value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Shock %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Stressed value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Loss</a:t>
            </a:r>
          </a:p>
        </p:txBody>
      </p:sp>
    </p:spTree>
    <p:extLst>
      <p:ext uri="{BB962C8B-B14F-4D97-AF65-F5344CB8AC3E}">
        <p14:creationId xmlns:p14="http://schemas.microsoft.com/office/powerpoint/2010/main" val="1289694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303B1D-7A2E-0FEC-C458-499A7AD2D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" y="1405714"/>
            <a:ext cx="12132091" cy="404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178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F70AEB-3CBA-1E65-C927-3FE3080582AD}"/>
              </a:ext>
            </a:extLst>
          </p:cNvPr>
          <p:cNvSpPr txBox="1"/>
          <p:nvPr/>
        </p:nvSpPr>
        <p:spPr>
          <a:xfrm>
            <a:off x="0" y="612845"/>
            <a:ext cx="12192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WHY IT MATTERS</a:t>
            </a:r>
          </a:p>
          <a:p>
            <a:endParaRPr lang="en-IN" dirty="0"/>
          </a:p>
          <a:p>
            <a:r>
              <a:rPr lang="en-IN" dirty="0" err="1"/>
              <a:t>RiskPulse</a:t>
            </a:r>
            <a:r>
              <a:rPr lang="en-IN" dirty="0"/>
              <a:t> AI demonstrates how unstructured information can be converted into structured risk intelligence for portfolio analysis.</a:t>
            </a:r>
          </a:p>
          <a:p>
            <a:endParaRPr lang="en-IN" dirty="0"/>
          </a:p>
          <a:p>
            <a:r>
              <a:rPr lang="en-IN" dirty="0"/>
              <a:t>Potential applications:</a:t>
            </a:r>
          </a:p>
          <a:p>
            <a:r>
              <a:rPr lang="en-IN" dirty="0"/>
              <a:t>• Portfolio monitoring</a:t>
            </a:r>
          </a:p>
          <a:p>
            <a:r>
              <a:rPr lang="en-IN" dirty="0"/>
              <a:t>• Early-warning systems</a:t>
            </a:r>
          </a:p>
          <a:p>
            <a:r>
              <a:rPr lang="en-IN" dirty="0"/>
              <a:t>• Scenario analysis</a:t>
            </a:r>
          </a:p>
          <a:p>
            <a:r>
              <a:rPr lang="en-IN" dirty="0"/>
              <a:t>• Credit-risk monitoring</a:t>
            </a:r>
          </a:p>
          <a:p>
            <a:r>
              <a:rPr lang="en-IN" dirty="0"/>
              <a:t>• Market-event triage</a:t>
            </a:r>
          </a:p>
          <a:p>
            <a:r>
              <a:rPr lang="en-IN" dirty="0"/>
              <a:t>• Risk analyst decision support</a:t>
            </a:r>
          </a:p>
          <a:p>
            <a:endParaRPr lang="en-IN" dirty="0"/>
          </a:p>
          <a:p>
            <a:r>
              <a:rPr lang="en-IN" b="1" dirty="0"/>
              <a:t>VALUE</a:t>
            </a:r>
          </a:p>
          <a:p>
            <a:endParaRPr lang="en-IN" dirty="0"/>
          </a:p>
          <a:p>
            <a:r>
              <a:rPr lang="en-IN" dirty="0"/>
              <a:t>Information → Risk Signal → Scenario → Portfolio Impact</a:t>
            </a:r>
          </a:p>
          <a:p>
            <a:endParaRPr lang="en-IN" dirty="0"/>
          </a:p>
          <a:p>
            <a:r>
              <a:rPr lang="en-IN" dirty="0"/>
              <a:t>The prototype emphasizes transparency so that each risk signal can be traced back to its detected event and impact drivers.</a:t>
            </a:r>
          </a:p>
        </p:txBody>
      </p:sp>
    </p:spTree>
    <p:extLst>
      <p:ext uri="{BB962C8B-B14F-4D97-AF65-F5344CB8AC3E}">
        <p14:creationId xmlns:p14="http://schemas.microsoft.com/office/powerpoint/2010/main" val="360548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B5073C-8FE8-061F-830B-6DBB84DADA0D}"/>
              </a:ext>
            </a:extLst>
          </p:cNvPr>
          <p:cNvSpPr txBox="1"/>
          <p:nvPr/>
        </p:nvSpPr>
        <p:spPr>
          <a:xfrm>
            <a:off x="0" y="474345"/>
            <a:ext cx="12192000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CURRENT LIMITATIONS</a:t>
            </a:r>
          </a:p>
          <a:p>
            <a:endParaRPr lang="en-IN" dirty="0"/>
          </a:p>
          <a:p>
            <a:r>
              <a:rPr lang="en-IN" dirty="0"/>
              <a:t>• Hybrid keyword-based event classification</a:t>
            </a:r>
          </a:p>
          <a:p>
            <a:r>
              <a:rPr lang="en-IN" dirty="0"/>
              <a:t>• VADER is a general-purpose sentiment model</a:t>
            </a:r>
          </a:p>
          <a:p>
            <a:r>
              <a:rPr lang="en-IN" dirty="0"/>
              <a:t>• Synthetic social and portfolio data</a:t>
            </a:r>
          </a:p>
          <a:p>
            <a:r>
              <a:rPr lang="en-IN" dirty="0"/>
              <a:t>• Illustrative stress-shock assumptions</a:t>
            </a:r>
          </a:p>
          <a:p>
            <a:r>
              <a:rPr lang="en-IN" dirty="0"/>
              <a:t>• No production-grade streaming infrastructure</a:t>
            </a:r>
          </a:p>
          <a:p>
            <a:endParaRPr lang="en-IN" dirty="0"/>
          </a:p>
          <a:p>
            <a:r>
              <a:rPr lang="en-IN" sz="2400" b="1" dirty="0"/>
              <a:t>NEXT STEPS</a:t>
            </a:r>
          </a:p>
          <a:p>
            <a:endParaRPr lang="en-IN" dirty="0"/>
          </a:p>
          <a:p>
            <a:r>
              <a:rPr lang="en-IN" dirty="0"/>
              <a:t>→ Fine-tuned financial NLP / </a:t>
            </a:r>
            <a:r>
              <a:rPr lang="en-IN" dirty="0" err="1"/>
              <a:t>FinBERT</a:t>
            </a:r>
            <a:endParaRPr lang="en-IN" dirty="0"/>
          </a:p>
          <a:p>
            <a:r>
              <a:rPr lang="en-IN" dirty="0"/>
              <a:t>→ Named-entity recognition</a:t>
            </a:r>
          </a:p>
          <a:p>
            <a:r>
              <a:rPr lang="en-IN" dirty="0"/>
              <a:t>→ Event deduplication</a:t>
            </a:r>
          </a:p>
          <a:p>
            <a:r>
              <a:rPr lang="en-IN" dirty="0"/>
              <a:t>→ Confidence calibration</a:t>
            </a:r>
          </a:p>
          <a:p>
            <a:r>
              <a:rPr lang="en-IN" dirty="0"/>
              <a:t>→ Streaming ingestion</a:t>
            </a:r>
          </a:p>
          <a:p>
            <a:r>
              <a:rPr lang="en-IN" dirty="0"/>
              <a:t>→ Model monitoring</a:t>
            </a:r>
          </a:p>
          <a:p>
            <a:r>
              <a:rPr lang="en-IN" dirty="0"/>
              <a:t>→ Historical </a:t>
            </a:r>
            <a:r>
              <a:rPr lang="en-IN" dirty="0" err="1"/>
              <a:t>backtesting</a:t>
            </a:r>
            <a:endParaRPr lang="en-IN" dirty="0"/>
          </a:p>
          <a:p>
            <a:r>
              <a:rPr lang="en-IN" dirty="0"/>
              <a:t>→ More granular portfolio risk factors</a:t>
            </a:r>
          </a:p>
          <a:p>
            <a:endParaRPr lang="en-IN" dirty="0"/>
          </a:p>
          <a:p>
            <a:r>
              <a:rPr lang="en-IN" dirty="0" err="1"/>
              <a:t>RiskPulse</a:t>
            </a:r>
            <a:r>
              <a:rPr lang="en-IN" dirty="0"/>
              <a:t> AI is a hackathon prototype and not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3112010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</Words>
  <Application>Microsoft Office PowerPoint</Application>
  <PresentationFormat>Widescreen</PresentationFormat>
  <Paragraphs>105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  RiskPulse AI  Financial Risk Intelligence Engine + Strategic Portfolio Stress Testing  (S&amp;P Global &amp; CRISIL Campus Hackathon 2026)</vt:lpstr>
      <vt:lpstr>THE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AKANKSHYA DIBYADARSINEE ROUT</dc:creator>
  <cp:lastModifiedBy>AKANKSHYA DIBYADARSINEE ROUT</cp:lastModifiedBy>
  <cp:revision>1</cp:revision>
  <dcterms:created xsi:type="dcterms:W3CDTF">2026-10-03T09:41:26Z</dcterms:created>
  <dcterms:modified xsi:type="dcterms:W3CDTF">2026-10-03T09:41:59Z</dcterms:modified>
</cp:coreProperties>
</file>